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011680"/>
            <a:ext cx="1828800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6000" b="1">
                <a:solidFill>
                  <a:srgbClr val="F8FAFC"/>
                </a:solidFill>
                <a:latin typeface="Calibri"/>
              </a:rPr>
              <a:t>EPIPHANY</a:t>
            </a:r>
          </a:p>
          <a:p>
            <a:pPr>
              <a:spcAft>
                <a:spcPts val="1800"/>
              </a:spcAft>
            </a:pPr>
            <a:r>
              <a:rPr sz="3000" b="1">
                <a:solidFill>
                  <a:srgbClr val="818CF8"/>
                </a:solidFill>
                <a:latin typeface="Calibri"/>
              </a:rPr>
              <a:t>An Autonomous AI Data Scientist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94A3B8"/>
                </a:solidFill>
                <a:latin typeface="Calibri"/>
              </a:rPr>
              <a:t>Point it at any dataset. It explores, hypothesizes, proves it with real statistics, trains a model, and ships it — on its own.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10B981"/>
                </a:solidFill>
                <a:latin typeface="Calibri"/>
              </a:rPr>
              <a:t>Google Cloud Rapid Agent Hackathon   •   live: epiphany-ds.fly.dev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097280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10B981"/>
                </a:solidFill>
                <a:latin typeface="Calibri"/>
              </a:rPr>
              <a:t>THE PROBLEM</a:t>
            </a:r>
          </a:p>
          <a:p>
            <a:pPr>
              <a:spcAft>
                <a:spcPts val="0"/>
              </a:spcAft>
            </a:pPr>
            <a:r>
              <a:rPr sz="3400" b="1">
                <a:solidFill>
                  <a:srgbClr val="F8FAFC"/>
                </a:solidFill>
                <a:latin typeface="Calibri"/>
              </a:rPr>
              <a:t>Data sits unused. Data scientists don't scale.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F8FAFC"/>
                </a:solidFill>
                <a:latin typeface="Calibri"/>
              </a:rPr>
              <a:t>•  Most enterprise data is never analyzed — the questions outnumber the analysts.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F8FAFC"/>
                </a:solidFill>
                <a:latin typeface="Calibri"/>
              </a:rPr>
              <a:t>•  Hiring data scientists is slow and expensive; every question becomes a ticket in a queue.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F8FAFC"/>
                </a:solidFill>
                <a:latin typeface="Calibri"/>
              </a:rPr>
              <a:t>•  Today's “AI for data” tools mostly describe data or generate code you still have to run and trust.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0B981"/>
                </a:solidFill>
                <a:latin typeface="Calibri"/>
              </a:rPr>
              <a:t>•  Nobody closes the loop: raw data → validated insight → a deployed model.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097280" cy="64008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818CF8"/>
                </a:solidFill>
                <a:latin typeface="Calibri"/>
              </a:rPr>
              <a:t>THE SOLUTION</a:t>
            </a:r>
          </a:p>
          <a:p>
            <a:pPr>
              <a:spcAft>
                <a:spcPts val="0"/>
              </a:spcAft>
            </a:pPr>
            <a:r>
              <a:rPr sz="3400" b="1">
                <a:solidFill>
                  <a:srgbClr val="F8FAFC"/>
                </a:solidFill>
                <a:latin typeface="Calibri"/>
              </a:rPr>
              <a:t>A continuous 5-step loop — and every step is real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377440"/>
            <a:ext cx="2157984" cy="2926080"/>
          </a:xfrm>
          <a:prstGeom prst="roundRect">
            <a:avLst/>
          </a:prstGeom>
          <a:solidFill>
            <a:srgbClr val="151B2B"/>
          </a:solidFill>
          <a:ln w="12700">
            <a:solidFill>
              <a:srgbClr val="2A33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1" y="2606040"/>
            <a:ext cx="1828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818CF8"/>
                </a:solidFill>
                <a:latin typeface="Calibri"/>
              </a:rPr>
              <a:t>1 · TRIGGER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F8FAFC"/>
                </a:solidFill>
                <a:latin typeface="Calibri"/>
              </a:rPr>
              <a:t>Fivetran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Wakes when new data syncs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2377440"/>
            <a:ext cx="2157984" cy="2926080"/>
          </a:xfrm>
          <a:prstGeom prst="roundRect">
            <a:avLst/>
          </a:prstGeom>
          <a:solidFill>
            <a:srgbClr val="151B2B"/>
          </a:solidFill>
          <a:ln w="12700">
            <a:solidFill>
              <a:srgbClr val="2A33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90672" y="2606040"/>
            <a:ext cx="1828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2 · EXPLORE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F8FAFC"/>
                </a:solidFill>
                <a:latin typeface="Calibri"/>
              </a:rPr>
              <a:t>Elastic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Discovers schema, ranks real signals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12080" y="2377440"/>
            <a:ext cx="2157984" cy="2926080"/>
          </a:xfrm>
          <a:prstGeom prst="roundRect">
            <a:avLst/>
          </a:prstGeom>
          <a:solidFill>
            <a:srgbClr val="151B2B"/>
          </a:solidFill>
          <a:ln w="12700">
            <a:solidFill>
              <a:srgbClr val="2A33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76672" y="2606040"/>
            <a:ext cx="1828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818CF8"/>
                </a:solidFill>
                <a:latin typeface="Calibri"/>
              </a:rPr>
              <a:t>3 · REASON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F8FAFC"/>
                </a:solidFill>
                <a:latin typeface="Calibri"/>
              </a:rPr>
              <a:t>Gemini + ADK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Forms a falsifiable hypothesis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79" y="2377440"/>
            <a:ext cx="2157984" cy="2926080"/>
          </a:xfrm>
          <a:prstGeom prst="roundRect">
            <a:avLst/>
          </a:prstGeom>
          <a:solidFill>
            <a:srgbClr val="151B2B"/>
          </a:solidFill>
          <a:ln w="12700">
            <a:solidFill>
              <a:srgbClr val="2A33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62671" y="2606040"/>
            <a:ext cx="1828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4 · VALIDATE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F8FAFC"/>
                </a:solidFill>
                <a:latin typeface="Calibri"/>
              </a:rPr>
              <a:t>SciPy sandbox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Runs the RIGHT test on real rows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84080" y="2377440"/>
            <a:ext cx="2157984" cy="2926080"/>
          </a:xfrm>
          <a:prstGeom prst="roundRect">
            <a:avLst/>
          </a:prstGeom>
          <a:solidFill>
            <a:srgbClr val="151B2B"/>
          </a:solidFill>
          <a:ln w="12700">
            <a:solidFill>
              <a:srgbClr val="2A33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48672" y="2606040"/>
            <a:ext cx="1828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818CF8"/>
                </a:solidFill>
                <a:latin typeface="Calibri"/>
              </a:rPr>
              <a:t>5 · DEPLOY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F8FAFC"/>
                </a:solidFill>
                <a:latin typeface="Calibri"/>
              </a:rPr>
              <a:t>GitLab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Trains a real model, opens an MR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77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94A3B8"/>
                </a:solidFill>
                <a:latin typeface="Calibri"/>
              </a:rPr>
              <a:t>When Google ADK + Gemini are available, an LlmAgent dynamically chooses which tools to call. Otherwise the same real tools run as a direct pipeline.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097280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10B981"/>
                </a:solidFill>
                <a:latin typeface="Calibri"/>
              </a:rPr>
              <a:t>WHY IT WINS</a:t>
            </a:r>
          </a:p>
          <a:p>
            <a:pPr>
              <a:spcAft>
                <a:spcPts val="0"/>
              </a:spcAft>
            </a:pPr>
            <a:r>
              <a:rPr sz="3400" b="1">
                <a:solidFill>
                  <a:srgbClr val="F8FAFC"/>
                </a:solidFill>
                <a:latin typeface="Calibri"/>
              </a:rPr>
              <a:t>It's real data science — not a demo prop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F8FAFC"/>
                </a:solidFill>
                <a:latin typeface="Calibri"/>
              </a:rPr>
              <a:t>•  Real statistics.  SciPy tests on real rows — a weak signal returns NOT significant. The system can say “no.”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8FAFC"/>
                </a:solidFill>
                <a:latin typeface="Calibri"/>
              </a:rPr>
              <a:t>•  Real models.  Trains a scikit-learn model, measures held-out ROC-AUC / R², saves a loadable .pkl artifact.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8FAFC"/>
                </a:solidFill>
                <a:latin typeface="Calibri"/>
              </a:rPr>
              <a:t>•  Any dataset, any domain.  Auto-detects column types &amp; target; picks χ² / t-test / ANOVA / correlation accordingly.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8FAFC"/>
                </a:solidFill>
                <a:latin typeface="Calibri"/>
              </a:rPr>
              <a:t>•  Genuinely autonomous.  A background loop runs forever; the agent decides its own tool calls via Google ADK.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8FAFC"/>
                </a:solidFill>
                <a:latin typeface="Calibri"/>
              </a:rPr>
              <a:t>•  Safe.  Agent-generated code is AST-screened and run in a network-isolated, resource-limited sandbox.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0B981"/>
                </a:solidFill>
                <a:latin typeface="Calibri"/>
              </a:rPr>
              <a:t>•  Deployed &amp; usable.  Live on the web, real auth (Clerk), bring-your-own-data, graceful degradation.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097280" cy="64008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818CF8"/>
                </a:solidFill>
                <a:latin typeface="Calibri"/>
              </a:rPr>
              <a:t>FOR ANYONE</a:t>
            </a:r>
          </a:p>
          <a:p>
            <a:pPr>
              <a:spcAft>
                <a:spcPts val="0"/>
              </a:spcAft>
            </a:pPr>
            <a:r>
              <a:rPr sz="3400" b="1">
                <a:solidFill>
                  <a:srgbClr val="F8FAFC"/>
                </a:solidFill>
                <a:latin typeface="Calibri"/>
              </a:rPr>
              <a:t>Bring any CSV — it adapts the test and the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468880"/>
            <a:ext cx="5029200" cy="56692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3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542032"/>
            <a:ext cx="4892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818CF8"/>
                </a:solidFill>
                <a:latin typeface="Calibri"/>
              </a:rPr>
              <a:t>If your target is…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720" y="2468880"/>
            <a:ext cx="5760720" cy="56692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3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88736" y="2542032"/>
            <a:ext cx="5623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818CF8"/>
                </a:solidFill>
                <a:latin typeface="Calibri"/>
              </a:rPr>
              <a:t>…Epiphany automatically picks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3255264"/>
            <a:ext cx="4892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F8FAFC"/>
                </a:solidFill>
                <a:latin typeface="Calibri"/>
              </a:rPr>
              <a:t>a 2-class label (e.g. converted)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88736" y="3255264"/>
            <a:ext cx="5623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F8FAFC"/>
                </a:solidFill>
                <a:latin typeface="Calibri"/>
              </a:rPr>
              <a:t>Welch's t-test  →  classifier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968496"/>
            <a:ext cx="4892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F8FAFC"/>
                </a:solidFill>
                <a:latin typeface="Calibri"/>
              </a:rPr>
              <a:t>a 3+-class category (e.g. tier)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88736" y="3968496"/>
            <a:ext cx="5623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F8FAFC"/>
                </a:solidFill>
                <a:latin typeface="Calibri"/>
              </a:rPr>
              <a:t>one-way ANOVA  →  classifier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4681728"/>
            <a:ext cx="4892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F8FAFC"/>
                </a:solidFill>
                <a:latin typeface="Calibri"/>
              </a:rPr>
              <a:t>a continuous number (e.g. price)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88736" y="4681728"/>
            <a:ext cx="5623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F8FAFC"/>
                </a:solidFill>
                <a:latin typeface="Calibri"/>
              </a:rPr>
              <a:t>Pearson / Spearman  →  regression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5394960"/>
            <a:ext cx="4892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F8FAFC"/>
                </a:solidFill>
                <a:latin typeface="Calibri"/>
              </a:rPr>
              <a:t>two categories (region × outcome)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88736" y="5394960"/>
            <a:ext cx="5623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F8FAFC"/>
                </a:solidFill>
                <a:latin typeface="Calibri"/>
              </a:rPr>
              <a:t>Chi-Square test of independence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0B981"/>
                </a:solidFill>
                <a:latin typeface="Calibri"/>
              </a:rPr>
              <a:t>No samples shipped — you upload your data and the agent auto-detects the target and the correct method.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097280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10B981"/>
                </a:solidFill>
                <a:latin typeface="Calibri"/>
              </a:rPr>
              <a:t>ARCHITECTURE</a:t>
            </a:r>
          </a:p>
          <a:p>
            <a:pPr>
              <a:spcAft>
                <a:spcPts val="0"/>
              </a:spcAft>
            </a:pPr>
            <a:r>
              <a:rPr sz="3400" b="1">
                <a:solidFill>
                  <a:srgbClr val="F8FAFC"/>
                </a:solidFill>
                <a:latin typeface="Calibri"/>
              </a:rPr>
              <a:t>Built on Google Cloud's agentic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789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F8FAFC"/>
                </a:solidFill>
                <a:latin typeface="Calibri"/>
              </a:rPr>
              <a:t>•  Gemini 2.5 Flash — the reasoning brain (API key or Vertex AI).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8FAFC"/>
                </a:solidFill>
                <a:latin typeface="Calibri"/>
              </a:rPr>
              <a:t>•  Google Agent Development Kit (ADK) — orchestrates autonomous, dynamic tool-calling.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8FAFC"/>
                </a:solidFill>
                <a:latin typeface="Calibri"/>
              </a:rPr>
              <a:t>•  FastAPI + WebSockets — live agent stream to a real-time dashboard.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8FAFC"/>
                </a:solidFill>
                <a:latin typeface="Calibri"/>
              </a:rPr>
              <a:t>•  Hardened subprocess sandbox — AST scanner + no network egress + CPU/RAM limits.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8FAFC"/>
                </a:solidFill>
                <a:latin typeface="Calibri"/>
              </a:rPr>
              <a:t>•  SQLite memory — every hypothesis &amp; deployment persisted across cycles.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818CF8"/>
                </a:solidFill>
                <a:latin typeface="Calibri"/>
              </a:rPr>
              <a:t>•  Container-native — Dockerfile, honors $PORT, health checks: Cloud Run / Fly ready (deployed live).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097280" cy="64008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818CF8"/>
                </a:solidFill>
                <a:latin typeface="Calibri"/>
              </a:rPr>
              <a:t>LIVE DEMO</a:t>
            </a:r>
          </a:p>
          <a:p>
            <a:pPr>
              <a:spcAft>
                <a:spcPts val="0"/>
              </a:spcAft>
            </a:pPr>
            <a:r>
              <a:rPr sz="3400" b="1">
                <a:solidFill>
                  <a:srgbClr val="F8FAFC"/>
                </a:solidFill>
                <a:latin typeface="Calibri"/>
              </a:rPr>
              <a:t>See it think — in 90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789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F8FAFC"/>
                </a:solidFill>
                <a:latin typeface="Calibri"/>
              </a:rPr>
              <a:t>•  1.  Sign in (Clerk) → an empty workspace; upload a CSV to begin.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8FAFC"/>
                </a:solidFill>
                <a:latin typeface="Calibri"/>
              </a:rPr>
              <a:t>•  2.  The agent auto-detects the target and runs its loop live.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8FAFC"/>
                </a:solidFill>
                <a:latin typeface="Calibri"/>
              </a:rPr>
              <a:t>•  3.  Upload a different dataset → it switches the statistical test automatically.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8FAFC"/>
                </a:solidFill>
                <a:latin typeface="Calibri"/>
              </a:rPr>
              <a:t>•  4.  Run a mission in plain English → Gemini + ADK pick the tools live.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5486400"/>
            <a:ext cx="10698480" cy="822960"/>
          </a:xfrm>
          <a:prstGeom prst="roundRect">
            <a:avLst/>
          </a:prstGeom>
          <a:solidFill>
            <a:srgbClr val="062B22"/>
          </a:solidFill>
          <a:ln w="12700">
            <a:solidFill>
              <a:srgbClr val="2A33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650992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10B981"/>
                </a:solidFill>
                <a:latin typeface="Calibri"/>
              </a:rPr>
              <a:t>▶  Try it now:  https://epiphany-ds.fly.dev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103120"/>
            <a:ext cx="1828800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F8FAFC"/>
                </a:solidFill>
                <a:latin typeface="Calibri"/>
              </a:rPr>
              <a:t>Data science that runs itself.</a:t>
            </a:r>
          </a:p>
          <a:p>
            <a:pPr>
              <a:spcAft>
                <a:spcPts val="1800"/>
              </a:spcAft>
            </a:pPr>
            <a:r>
              <a:rPr sz="2000" b="0">
                <a:solidFill>
                  <a:srgbClr val="94A3B8"/>
                </a:solidFill>
                <a:latin typeface="Calibri"/>
              </a:rPr>
              <a:t>Epiphany turns any dataset into a validated, deployed model — with no human in the loop. Real statistics, real models, any domain, live on the web.</a:t>
            </a:r>
          </a:p>
          <a:p>
            <a:pPr>
              <a:spcAft>
                <a:spcPts val="0"/>
              </a:spcAft>
            </a:pPr>
            <a:r>
              <a:rPr sz="2200" b="1">
                <a:solidFill>
                  <a:srgbClr val="818CF8"/>
                </a:solidFill>
                <a:latin typeface="Calibri"/>
              </a:rPr>
              <a:t>epiphany-ds.fly.dev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